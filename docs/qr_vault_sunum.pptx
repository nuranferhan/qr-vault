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6264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904B"/>
          </a:solidFill>
          <a:ln w="12700">
            <a:solidFill>
              <a:srgbClr val="F5904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5669280" y="548640"/>
            <a:ext cx="3017520" cy="3017520"/>
          </a:xfrm>
          <a:prstGeom prst="ellipse">
            <a:avLst/>
          </a:prstGeom>
          <a:solidFill>
            <a:srgbClr val="EDE8F7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228600" y="274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ÜNİVERSİTESİ · TEKNOLOJİ FAKÜLTESİ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" y="65836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 Mimarilerinde Test Mühendisliği — Dönem Projesi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" y="105156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Vault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228600" y="20574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59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Generator Service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28600" y="2788920"/>
            <a:ext cx="5120640" cy="54864"/>
          </a:xfrm>
          <a:prstGeom prst="rect">
            <a:avLst/>
          </a:prstGeom>
          <a:solidFill>
            <a:srgbClr val="D8D0F0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228600" y="2926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 Üyeleri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" y="3246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Nuran Ferhan Kasap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8600" y="349300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· CI/CD · Kubernetes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3721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Selin Tütüncü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8600" y="396849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Otomasyonu · Pytest · Playwright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" y="4197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 Naz Görmez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8600" y="444398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· Prometheus · Grafana</a:t>
            </a:r>
            <a:endParaRPr lang="en-US" sz="10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94AA746-A75A-F252-89AF-3099D6D8FA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6611" y="883695"/>
            <a:ext cx="2502857" cy="2502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Sunum Akışı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dakikalık yapılandırılmış sunum planı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1051560"/>
          </a:xfrm>
          <a:prstGeom prst="rect">
            <a:avLst/>
          </a:prstGeom>
          <a:solidFill>
            <a:srgbClr val="F8F7FD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2296" cy="105156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1591056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Tanımı &amp; Mimari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9019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 Naz Görmez  ·  00:00 – 05:00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4114800" cy="1051560"/>
          </a:xfrm>
          <a:prstGeom prst="rect">
            <a:avLst/>
          </a:prstGeom>
          <a:solidFill>
            <a:srgbClr val="F8F7FD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365760" y="2423160"/>
            <a:ext cx="82296" cy="1051560"/>
          </a:xfrm>
          <a:prstGeom prst="rect">
            <a:avLst/>
          </a:prstGeom>
          <a:solidFill>
            <a:srgbClr val="4CAF87"/>
          </a:solidFill>
          <a:ln w="12700">
            <a:solidFill>
              <a:srgbClr val="4CAF8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502920" y="24963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CA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2825496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Stratejisi &amp; CI/CD Teorisi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1363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Selin Tütüncü  ·  05:00 – 10:00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4114800" cy="1051560"/>
          </a:xfrm>
          <a:prstGeom prst="rect">
            <a:avLst/>
          </a:prstGeom>
          <a:solidFill>
            <a:srgbClr val="F8F7FD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82296" cy="1051560"/>
          </a:xfrm>
          <a:prstGeom prst="rect">
            <a:avLst/>
          </a:prstGeom>
          <a:solidFill>
            <a:srgbClr val="F5904B"/>
          </a:solidFill>
          <a:ln w="12700">
            <a:solidFill>
              <a:srgbClr val="F5904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502920" y="37307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" y="4059936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Canlı Demo — CI/CD &amp; Kubernetes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43708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Nuran Ferhan Kasap  ·  10:00 – 13:30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188720"/>
            <a:ext cx="4114800" cy="1051560"/>
          </a:xfrm>
          <a:prstGeom prst="rect">
            <a:avLst/>
          </a:prstGeom>
          <a:solidFill>
            <a:srgbClr val="F8F7FD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4754880" y="1188720"/>
            <a:ext cx="82296" cy="105156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4892040" y="12618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92040" y="1591056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Canlı Demo — k6 &amp; Grafana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19019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 Naz Görmez  ·  13:30 – 15:00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423160"/>
            <a:ext cx="4114800" cy="1051560"/>
          </a:xfrm>
          <a:prstGeom prst="rect">
            <a:avLst/>
          </a:prstGeom>
          <a:solidFill>
            <a:srgbClr val="F8F7FD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4754880" y="2423160"/>
            <a:ext cx="82296" cy="1051560"/>
          </a:xfrm>
          <a:prstGeom prst="rect">
            <a:avLst/>
          </a:prstGeom>
          <a:solidFill>
            <a:srgbClr val="4CAF87"/>
          </a:solidFill>
          <a:ln w="12700">
            <a:solidFill>
              <a:srgbClr val="4CAF8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4892040" y="24963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CA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892040" y="2825496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Canlı Demo — Pytest &amp; Playwright E2E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31363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Selin Tütüncü  ·  15:00 – 17:00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657600"/>
            <a:ext cx="4114800" cy="1051560"/>
          </a:xfrm>
          <a:prstGeom prst="rect">
            <a:avLst/>
          </a:prstGeom>
          <a:solidFill>
            <a:srgbClr val="F8F7FD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4754880" y="3657600"/>
            <a:ext cx="82296" cy="1051560"/>
          </a:xfrm>
          <a:prstGeom prst="rect">
            <a:avLst/>
          </a:prstGeom>
          <a:solidFill>
            <a:srgbClr val="F5904B"/>
          </a:solidFill>
          <a:ln w="12700">
            <a:solidFill>
              <a:srgbClr val="F5904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4892040" y="37307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892040" y="4059936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Metrikleri &amp; Soru-Cevap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92040" y="43708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Ekip  ·  17:00 – 20:00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904B"/>
          </a:solidFill>
          <a:ln w="12700">
            <a:solidFill>
              <a:srgbClr val="F5904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6858000" y="182880"/>
            <a:ext cx="2103120" cy="347472"/>
          </a:xfrm>
          <a:prstGeom prst="rect">
            <a:avLst/>
          </a:prstGeom>
          <a:solidFill>
            <a:srgbClr val="EDE8F7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6858000" y="1828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 Sude Naz Görmez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Giriş &amp; Problem Tanımı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9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Vault — QR Code Generator Service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bu proje?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kodlarını yalnızca üretmekle kalmayan; depolayan, analiz eden ve izleyen uçtan uca bir bulut servisi inşa etmek.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1920240" cy="658368"/>
          </a:xfrm>
          <a:prstGeom prst="rect">
            <a:avLst/>
          </a:prstGeom>
          <a:solidFill>
            <a:srgbClr val="EDE8F7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02920" y="214884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Kısa bağlantı + PNG depolama (S3/LocalStack)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1920240" cy="658368"/>
          </a:xfrm>
          <a:prstGeom prst="rect">
            <a:avLst/>
          </a:prstGeom>
          <a:solidFill>
            <a:srgbClr val="EDE8F7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502920" y="292608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Tarama sayacı &amp; günlük analitik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1920240" cy="658368"/>
          </a:xfrm>
          <a:prstGeom prst="rect">
            <a:avLst/>
          </a:prstGeom>
          <a:solidFill>
            <a:srgbClr val="EDE8F7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502920" y="370332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Toplu üretim (batch generation)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14600" y="2103120"/>
            <a:ext cx="1920240" cy="658368"/>
          </a:xfrm>
          <a:prstGeom prst="rect">
            <a:avLst/>
          </a:prstGeom>
          <a:solidFill>
            <a:srgbClr val="EDE8F7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2560320" y="214884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Özel renk &amp; hata düzeltme seviyesi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14600" y="2880360"/>
            <a:ext cx="1920240" cy="658368"/>
          </a:xfrm>
          <a:prstGeom prst="rect">
            <a:avLst/>
          </a:prstGeom>
          <a:solidFill>
            <a:srgbClr val="EDE8F7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2560320" y="292608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Prometheus metrikleri &amp; Grafana dashboard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14600" y="3657600"/>
            <a:ext cx="1920240" cy="658368"/>
          </a:xfrm>
          <a:prstGeom prst="rect">
            <a:avLst/>
          </a:prstGeom>
          <a:solidFill>
            <a:srgbClr val="EDE8F7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2560320" y="370332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UTM parametresi enjeksiyonu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1097280"/>
            <a:ext cx="4160520" cy="3657600"/>
          </a:xfrm>
          <a:prstGeom prst="rect">
            <a:avLst/>
          </a:prstGeom>
          <a:solidFill>
            <a:srgbClr val="F8F7FD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4846320" y="12344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 Seçimleri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1600200"/>
            <a:ext cx="548640" cy="347472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4846320" y="160020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68112" y="1627632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2130552"/>
            <a:ext cx="548640" cy="347472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4846320" y="2130552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68112" y="2157984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2.0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2660904"/>
            <a:ext cx="548640" cy="347472"/>
          </a:xfrm>
          <a:prstGeom prst="rect">
            <a:avLst/>
          </a:prstGeom>
          <a:solidFill>
            <a:srgbClr val="4CAF87"/>
          </a:solidFill>
          <a:ln w="12700">
            <a:solidFill>
              <a:srgbClr val="4CAF8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4846320" y="2660904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68112" y="2688336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(test) / PostgreSQL (prod)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3191256"/>
            <a:ext cx="548640" cy="347472"/>
          </a:xfrm>
          <a:prstGeom prst="rect">
            <a:avLst/>
          </a:prstGeom>
          <a:solidFill>
            <a:srgbClr val="4CAF87"/>
          </a:solidFill>
          <a:ln w="12700">
            <a:solidFill>
              <a:srgbClr val="4CAF8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4846320" y="3191256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68112" y="3218688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LocalStack S3 / AWS S3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3721608"/>
            <a:ext cx="548640" cy="347472"/>
          </a:xfrm>
          <a:prstGeom prst="rect">
            <a:avLst/>
          </a:prstGeom>
          <a:solidFill>
            <a:srgbClr val="F5904B"/>
          </a:solidFill>
          <a:ln w="12700">
            <a:solidFill>
              <a:srgbClr val="F5904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4846320" y="372160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468112" y="3749040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qrcode + Pillow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4251960"/>
            <a:ext cx="548640" cy="347472"/>
          </a:xfrm>
          <a:prstGeom prst="rect">
            <a:avLst/>
          </a:prstGeom>
          <a:solidFill>
            <a:srgbClr val="F5904B"/>
          </a:solidFill>
          <a:ln w="12700">
            <a:solidFill>
              <a:srgbClr val="F5904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4846320" y="425196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Konteyner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468112" y="4279392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multi-stage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904B"/>
          </a:solidFill>
          <a:ln w="12700">
            <a:solidFill>
              <a:srgbClr val="F5904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6858000" y="182880"/>
            <a:ext cx="2103120" cy="347472"/>
          </a:xfrm>
          <a:prstGeom prst="rect">
            <a:avLst/>
          </a:prstGeom>
          <a:solidFill>
            <a:srgbClr val="EDE8F7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6858000" y="1828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 Sude Naz Görmez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Mimarisi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766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Katmanlı bulut-yerel yapı: API → Servisler → ORM → Altyapı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73266" y="964692"/>
            <a:ext cx="4371584" cy="3977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904B"/>
          </a:solidFill>
          <a:ln w="12700">
            <a:solidFill>
              <a:srgbClr val="F5904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6858000" y="182880"/>
            <a:ext cx="2103120" cy="347472"/>
          </a:xfrm>
          <a:prstGeom prst="rect">
            <a:avLst/>
          </a:prstGeom>
          <a:solidFill>
            <a:srgbClr val="EDE8F7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6858000" y="1828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 Sude Naz Görmez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Endpoint'leri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766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endpoint — CRUD, yönlendirme, analitik, batch, sağlık, metrik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640080" cy="475488"/>
          </a:xfrm>
          <a:prstGeom prst="rect">
            <a:avLst/>
          </a:prstGeom>
          <a:solidFill>
            <a:srgbClr val="4CAF87"/>
          </a:solidFill>
          <a:ln w="12700">
            <a:solidFill>
              <a:srgbClr val="4CAF8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932688" y="1005840"/>
            <a:ext cx="3657600" cy="475488"/>
          </a:xfrm>
          <a:prstGeom prst="rect">
            <a:avLst/>
          </a:prstGeom>
          <a:solidFill>
            <a:srgbClr val="F8F7FD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987552" y="1005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D2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87552" y="12527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kullanıcı arayüzü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1673352"/>
            <a:ext cx="640080" cy="475488"/>
          </a:xfrm>
          <a:prstGeom prst="rect">
            <a:avLst/>
          </a:prstGeom>
          <a:solidFill>
            <a:srgbClr val="4CAF87"/>
          </a:solidFill>
          <a:ln w="12700">
            <a:solidFill>
              <a:srgbClr val="4CAF8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274320" y="1673352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32688" y="1673352"/>
            <a:ext cx="3657600" cy="475488"/>
          </a:xfrm>
          <a:prstGeom prst="rect">
            <a:avLst/>
          </a:prstGeom>
          <a:solidFill>
            <a:srgbClr val="F8F7FD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987552" y="16733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D2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87552" y="19202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Sağlık kontrolü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340864"/>
            <a:ext cx="640080" cy="475488"/>
          </a:xfrm>
          <a:prstGeom prst="rect">
            <a:avLst/>
          </a:prstGeom>
          <a:solidFill>
            <a:srgbClr val="4CAF87"/>
          </a:solidFill>
          <a:ln w="12700">
            <a:solidFill>
              <a:srgbClr val="4CAF8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274320" y="2340864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32688" y="2340864"/>
            <a:ext cx="3657600" cy="475488"/>
          </a:xfrm>
          <a:prstGeom prst="rect">
            <a:avLst/>
          </a:prstGeom>
          <a:solidFill>
            <a:srgbClr val="F8F7FD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987552" y="23408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D2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/metrics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87552" y="25877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metrik çıktısı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3008376"/>
            <a:ext cx="640080" cy="475488"/>
          </a:xfrm>
          <a:prstGeom prst="rect">
            <a:avLst/>
          </a:prstGeom>
          <a:solidFill>
            <a:srgbClr val="F5904B"/>
          </a:solidFill>
          <a:ln w="12700">
            <a:solidFill>
              <a:srgbClr val="F5904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274320" y="3008376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32688" y="3008376"/>
            <a:ext cx="3657600" cy="475488"/>
          </a:xfrm>
          <a:prstGeom prst="rect">
            <a:avLst/>
          </a:prstGeom>
          <a:solidFill>
            <a:srgbClr val="F8F7FD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987552" y="30083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D2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/qr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87552" y="32552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QR kodu oluştur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3675888"/>
            <a:ext cx="640080" cy="475488"/>
          </a:xfrm>
          <a:prstGeom prst="rect">
            <a:avLst/>
          </a:prstGeom>
          <a:solidFill>
            <a:srgbClr val="4CAF87"/>
          </a:solidFill>
          <a:ln w="12700">
            <a:solidFill>
              <a:srgbClr val="4CAF8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274320" y="3675888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32688" y="3675888"/>
            <a:ext cx="3657600" cy="475488"/>
          </a:xfrm>
          <a:prstGeom prst="rect">
            <a:avLst/>
          </a:prstGeom>
          <a:solidFill>
            <a:srgbClr val="F8F7FD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987552" y="36758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D2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/qr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87552" y="39227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Sayfalı QR listesi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4343400"/>
            <a:ext cx="640080" cy="475488"/>
          </a:xfrm>
          <a:prstGeom prst="rect">
            <a:avLst/>
          </a:prstGeom>
          <a:solidFill>
            <a:srgbClr val="4CAF87"/>
          </a:solidFill>
          <a:ln w="12700">
            <a:solidFill>
              <a:srgbClr val="4CAF8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274320" y="4343400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32688" y="4343400"/>
            <a:ext cx="3657600" cy="475488"/>
          </a:xfrm>
          <a:prstGeom prst="rect">
            <a:avLst/>
          </a:prstGeom>
          <a:solidFill>
            <a:srgbClr val="F8F7FD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987552" y="4343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D2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/qr/{code}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87552" y="45902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Tekil QR detayı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09160" y="1005840"/>
            <a:ext cx="640080" cy="475488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4709160" y="1005840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367528" y="1005840"/>
            <a:ext cx="3657600" cy="475488"/>
          </a:xfrm>
          <a:prstGeom prst="rect">
            <a:avLst/>
          </a:prstGeom>
          <a:solidFill>
            <a:srgbClr val="F8F7FD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5422392" y="1005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D2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/qr/{code}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422392" y="12527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Etiket/URL/durum güncelle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09160" y="1673352"/>
            <a:ext cx="64008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4709160" y="1673352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367528" y="1673352"/>
            <a:ext cx="3657600" cy="475488"/>
          </a:xfrm>
          <a:prstGeom prst="rect">
            <a:avLst/>
          </a:prstGeom>
          <a:solidFill>
            <a:srgbClr val="F8F7FD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Text 43"/>
          <p:cNvSpPr/>
          <p:nvPr/>
        </p:nvSpPr>
        <p:spPr>
          <a:xfrm>
            <a:off x="5422392" y="16733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D2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/qr/{code}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422392" y="19202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kaydı ve S3 nesnesi sil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709160" y="2340864"/>
            <a:ext cx="640080" cy="475488"/>
          </a:xfrm>
          <a:prstGeom prst="rect">
            <a:avLst/>
          </a:prstGeom>
          <a:solidFill>
            <a:srgbClr val="4CAF87"/>
          </a:solidFill>
          <a:ln w="12700">
            <a:solidFill>
              <a:srgbClr val="4CAF8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8" name="Text 46"/>
          <p:cNvSpPr/>
          <p:nvPr/>
        </p:nvSpPr>
        <p:spPr>
          <a:xfrm>
            <a:off x="4709160" y="2340864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367528" y="2340864"/>
            <a:ext cx="3657600" cy="475488"/>
          </a:xfrm>
          <a:prstGeom prst="rect">
            <a:avLst/>
          </a:prstGeom>
          <a:solidFill>
            <a:srgbClr val="F8F7FD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0" name="Text 48"/>
          <p:cNvSpPr/>
          <p:nvPr/>
        </p:nvSpPr>
        <p:spPr>
          <a:xfrm>
            <a:off x="5422392" y="23408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D2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/qr/{code}/redirect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422392" y="25877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Tarama sayacı + yönlendirme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709160" y="3008376"/>
            <a:ext cx="640080" cy="475488"/>
          </a:xfrm>
          <a:prstGeom prst="rect">
            <a:avLst/>
          </a:prstGeom>
          <a:solidFill>
            <a:srgbClr val="4CAF87"/>
          </a:solidFill>
          <a:ln w="12700">
            <a:solidFill>
              <a:srgbClr val="4CAF8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3" name="Text 51"/>
          <p:cNvSpPr/>
          <p:nvPr/>
        </p:nvSpPr>
        <p:spPr>
          <a:xfrm>
            <a:off x="4709160" y="3008376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367528" y="3008376"/>
            <a:ext cx="3657600" cy="475488"/>
          </a:xfrm>
          <a:prstGeom prst="rect">
            <a:avLst/>
          </a:prstGeom>
          <a:solidFill>
            <a:srgbClr val="F8F7FD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5" name="Text 53"/>
          <p:cNvSpPr/>
          <p:nvPr/>
        </p:nvSpPr>
        <p:spPr>
          <a:xfrm>
            <a:off x="5422392" y="30083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D2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/qr/{code}/image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422392" y="32552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S3'ten PNG indir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709160" y="3675888"/>
            <a:ext cx="640080" cy="475488"/>
          </a:xfrm>
          <a:prstGeom prst="rect">
            <a:avLst/>
          </a:prstGeom>
          <a:solidFill>
            <a:srgbClr val="4CAF87"/>
          </a:solidFill>
          <a:ln w="12700">
            <a:solidFill>
              <a:srgbClr val="4CAF8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8" name="Text 56"/>
          <p:cNvSpPr/>
          <p:nvPr/>
        </p:nvSpPr>
        <p:spPr>
          <a:xfrm>
            <a:off x="4709160" y="3675888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367528" y="3675888"/>
            <a:ext cx="3657600" cy="475488"/>
          </a:xfrm>
          <a:prstGeom prst="rect">
            <a:avLst/>
          </a:prstGeom>
          <a:solidFill>
            <a:srgbClr val="F8F7FD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0" name="Text 58"/>
          <p:cNvSpPr/>
          <p:nvPr/>
        </p:nvSpPr>
        <p:spPr>
          <a:xfrm>
            <a:off x="5422392" y="36758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D2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/qr/{code}/analytics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422392" y="39227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tarama analitikleri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709160" y="4343400"/>
            <a:ext cx="640080" cy="475488"/>
          </a:xfrm>
          <a:prstGeom prst="rect">
            <a:avLst/>
          </a:prstGeom>
          <a:solidFill>
            <a:srgbClr val="F5904B"/>
          </a:solidFill>
          <a:ln w="12700">
            <a:solidFill>
              <a:srgbClr val="F5904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3" name="Text 61"/>
          <p:cNvSpPr/>
          <p:nvPr/>
        </p:nvSpPr>
        <p:spPr>
          <a:xfrm>
            <a:off x="4709160" y="4343400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5367528" y="4343400"/>
            <a:ext cx="3657600" cy="475488"/>
          </a:xfrm>
          <a:prstGeom prst="rect">
            <a:avLst/>
          </a:prstGeom>
          <a:solidFill>
            <a:srgbClr val="F8F7FD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5" name="Text 63"/>
          <p:cNvSpPr/>
          <p:nvPr/>
        </p:nvSpPr>
        <p:spPr>
          <a:xfrm>
            <a:off x="5422392" y="4343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D2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/qr/batch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5422392" y="45902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istekte çoklu QR üret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904B"/>
          </a:solidFill>
          <a:ln w="12700">
            <a:solidFill>
              <a:srgbClr val="F5904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87"/>
          </a:solidFill>
          <a:ln w="12700">
            <a:solidFill>
              <a:srgbClr val="4CAF8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6858000" y="182880"/>
            <a:ext cx="2103120" cy="347472"/>
          </a:xfrm>
          <a:prstGeom prst="rect">
            <a:avLst/>
          </a:prstGeom>
          <a:solidFill>
            <a:srgbClr val="E6F5EE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6858000" y="1828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CA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 Selin Tütüncü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CA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Stratejisi &amp; Coverage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766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katmanlı test piramidi · Dış bağımlılık izolasyonu · %89.29 coverage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960120"/>
            <a:ext cx="7863840" cy="822960"/>
          </a:xfrm>
          <a:prstGeom prst="rect">
            <a:avLst/>
          </a:prstGeom>
          <a:solidFill>
            <a:srgbClr val="E6F5EE"/>
          </a:solidFill>
          <a:ln w="12700">
            <a:solidFill>
              <a:srgbClr val="4CAF8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640080" y="960120"/>
            <a:ext cx="91440" cy="822960"/>
          </a:xfrm>
          <a:prstGeom prst="rect">
            <a:avLst/>
          </a:prstGeom>
          <a:solidFill>
            <a:srgbClr val="4CAF87"/>
          </a:solidFill>
          <a:ln w="12700">
            <a:solidFill>
              <a:srgbClr val="4CAF8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822960" y="10515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Testler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36245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test  ·  pytest · mock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00200" y="1874520"/>
            <a:ext cx="5943600" cy="822960"/>
          </a:xfrm>
          <a:prstGeom prst="rect">
            <a:avLst/>
          </a:prstGeom>
          <a:solidFill>
            <a:srgbClr val="FEF0E6"/>
          </a:solidFill>
          <a:ln w="12700">
            <a:solidFill>
              <a:srgbClr val="F5904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1600200" y="1874520"/>
            <a:ext cx="91440" cy="822960"/>
          </a:xfrm>
          <a:prstGeom prst="rect">
            <a:avLst/>
          </a:prstGeom>
          <a:solidFill>
            <a:srgbClr val="F5904B"/>
          </a:solidFill>
          <a:ln w="12700">
            <a:solidFill>
              <a:srgbClr val="F5904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1783080" y="19659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Testler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83080" y="227685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senaryo  ·  Testcontainers · PostgreSQL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51760" y="2788920"/>
            <a:ext cx="3840480" cy="822960"/>
          </a:xfrm>
          <a:prstGeom prst="rect">
            <a:avLst/>
          </a:prstGeom>
          <a:solidFill>
            <a:srgbClr val="EDE8F7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2651760" y="2788920"/>
            <a:ext cx="91440" cy="82296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2834640" y="2880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Testler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34640" y="31912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grup / 10 fonksiyon  ·  Playwright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904B"/>
          </a:solidFill>
          <a:ln w="12700">
            <a:solidFill>
              <a:srgbClr val="F5904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04B"/>
          </a:solidFill>
          <a:ln w="12700">
            <a:solidFill>
              <a:srgbClr val="F5904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6858000" y="182880"/>
            <a:ext cx="2103120" cy="347472"/>
          </a:xfrm>
          <a:prstGeom prst="rect">
            <a:avLst/>
          </a:prstGeom>
          <a:solidFill>
            <a:srgbClr val="FEF0E6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6858000" y="1828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 Nuran Ferhan Kasap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766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· 5 aşama · Son çalışmada 4m 28s — 5/5 yeşil ✓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1508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1508760" cy="384048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274320" y="109728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7472" y="15361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5C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1901952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 statik analiz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7472" y="3017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A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783080" y="2148840"/>
            <a:ext cx="210312" cy="0"/>
          </a:xfrm>
          <a:prstGeom prst="line">
            <a:avLst/>
          </a:prstGeom>
          <a:noFill/>
          <a:ln w="254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1993392" y="1097280"/>
            <a:ext cx="1508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8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1993392" y="1097280"/>
            <a:ext cx="1508760" cy="384048"/>
          </a:xfrm>
          <a:prstGeom prst="rect">
            <a:avLst/>
          </a:prstGeom>
          <a:solidFill>
            <a:srgbClr val="4CAF87"/>
          </a:solidFill>
          <a:ln w="12700">
            <a:solidFill>
              <a:srgbClr val="4CAF8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1993392" y="109728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066544" y="15361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A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66544" y="1901952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unit test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LocalStack + coverage %89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066544" y="3017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A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502152" y="2148840"/>
            <a:ext cx="210312" cy="0"/>
          </a:xfrm>
          <a:prstGeom prst="line">
            <a:avLst/>
          </a:prstGeom>
          <a:noFill/>
          <a:ln w="254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3712464" y="1097280"/>
            <a:ext cx="1508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04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3712464" y="1097280"/>
            <a:ext cx="1508760" cy="384048"/>
          </a:xfrm>
          <a:prstGeom prst="rect">
            <a:avLst/>
          </a:prstGeom>
          <a:solidFill>
            <a:srgbClr val="F5904B"/>
          </a:solidFill>
          <a:ln w="12700">
            <a:solidFill>
              <a:srgbClr val="F5904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3712464" y="109728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785616" y="15361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0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docker-build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85616" y="1901952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Dockerfile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GHCR push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785616" y="3017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A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221224" y="2148840"/>
            <a:ext cx="210312" cy="0"/>
          </a:xfrm>
          <a:prstGeom prst="line">
            <a:avLst/>
          </a:prstGeom>
          <a:noFill/>
          <a:ln w="254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5431536" y="1097280"/>
            <a:ext cx="1508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8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5431536" y="1097280"/>
            <a:ext cx="1508760" cy="384048"/>
          </a:xfrm>
          <a:prstGeom prst="rect">
            <a:avLst/>
          </a:prstGeom>
          <a:solidFill>
            <a:srgbClr val="4CAF87"/>
          </a:solidFill>
          <a:ln w="12700">
            <a:solidFill>
              <a:srgbClr val="4CAF8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5431536" y="109728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504688" y="15361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A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smoke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04688" y="1901952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 curl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LocalStack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504688" y="3017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A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940296" y="2148840"/>
            <a:ext cx="210312" cy="0"/>
          </a:xfrm>
          <a:prstGeom prst="line">
            <a:avLst/>
          </a:prstGeom>
          <a:noFill/>
          <a:ln w="254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7150608" y="1097280"/>
            <a:ext cx="1508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Shape 34"/>
          <p:cNvSpPr/>
          <p:nvPr/>
        </p:nvSpPr>
        <p:spPr>
          <a:xfrm>
            <a:off x="7150608" y="1097280"/>
            <a:ext cx="1508760" cy="384048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7150608" y="109728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7223760" y="15361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5C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newman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223760" y="1901952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Postman testi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baseUrl:8000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223760" y="3017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A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274320" y="3566160"/>
            <a:ext cx="8595360" cy="1234440"/>
          </a:xfrm>
          <a:prstGeom prst="rect">
            <a:avLst/>
          </a:prstGeom>
          <a:solidFill>
            <a:srgbClr val="FEF0E6"/>
          </a:solidFill>
          <a:ln w="12700">
            <a:solidFill>
              <a:srgbClr val="F5904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Text 40"/>
          <p:cNvSpPr/>
          <p:nvPr/>
        </p:nvSpPr>
        <p:spPr>
          <a:xfrm>
            <a:off x="457200" y="36393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☸️  Kubernetes (Minikube) Dağıtımı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replica pod · RollingUpdate · ConfigMap + NodePort · non-root appuser · /health probe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get pods → 1/1 READY Running sıfır restart ile doğrulandı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904B"/>
          </a:solidFill>
          <a:ln w="12700">
            <a:solidFill>
              <a:srgbClr val="F5904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04B"/>
          </a:solidFill>
          <a:ln w="12700">
            <a:solidFill>
              <a:srgbClr val="F5904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6858000" y="182880"/>
            <a:ext cx="2103120" cy="347472"/>
          </a:xfrm>
          <a:prstGeom prst="rect">
            <a:avLst/>
          </a:prstGeom>
          <a:solidFill>
            <a:srgbClr val="FEF0E6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6858000" y="1828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 Nuran Ferhan Kasap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Canlı Dağıtımı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766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Minikube · 2 replica · /health endpoint doğrulaması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2316" y="1005840"/>
            <a:ext cx="8719368" cy="3291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28600" y="4407408"/>
            <a:ext cx="2011680" cy="548640"/>
          </a:xfrm>
          <a:prstGeom prst="rect">
            <a:avLst/>
          </a:prstGeom>
          <a:solidFill>
            <a:srgbClr val="FEF0E6"/>
          </a:solidFill>
          <a:ln w="12700">
            <a:solidFill>
              <a:srgbClr val="F5904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228600" y="440740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2 pod READY 1/1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404872" y="4407408"/>
            <a:ext cx="2011680" cy="548640"/>
          </a:xfrm>
          <a:prstGeom prst="rect">
            <a:avLst/>
          </a:prstGeom>
          <a:solidFill>
            <a:srgbClr val="FEF0E6"/>
          </a:solidFill>
          <a:ln w="12700">
            <a:solidFill>
              <a:srgbClr val="F5904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/>
          <p:nvPr/>
        </p:nvSpPr>
        <p:spPr>
          <a:xfrm>
            <a:off x="2404872" y="440740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non-root appuser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81144" y="4407408"/>
            <a:ext cx="2011680" cy="548640"/>
          </a:xfrm>
          <a:prstGeom prst="rect">
            <a:avLst/>
          </a:prstGeom>
          <a:solidFill>
            <a:srgbClr val="FEF0E6"/>
          </a:solidFill>
          <a:ln w="12700">
            <a:solidFill>
              <a:srgbClr val="F5904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/>
          <p:nvPr/>
        </p:nvSpPr>
        <p:spPr>
          <a:xfrm>
            <a:off x="4581144" y="440740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NodePort :30080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757416" y="4407408"/>
            <a:ext cx="2011680" cy="548640"/>
          </a:xfrm>
          <a:prstGeom prst="rect">
            <a:avLst/>
          </a:prstGeom>
          <a:solidFill>
            <a:srgbClr val="FEF0E6"/>
          </a:solidFill>
          <a:ln w="12700">
            <a:solidFill>
              <a:srgbClr val="F5904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2"/>
          <p:cNvSpPr/>
          <p:nvPr/>
        </p:nvSpPr>
        <p:spPr>
          <a:xfrm>
            <a:off x="6757416" y="440740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 /health → status: ok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904B"/>
          </a:solidFill>
          <a:ln w="12700">
            <a:solidFill>
              <a:srgbClr val="F5904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6858000" y="182880"/>
            <a:ext cx="2103120" cy="347472"/>
          </a:xfrm>
          <a:prstGeom prst="rect">
            <a:avLst/>
          </a:prstGeom>
          <a:solidFill>
            <a:srgbClr val="EDE8F7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6858000" y="1828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 Sude Naz Görmez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Yük Testi &amp; Grafana Dashboard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766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VU · 3 dakika · Prometheus'tan canlı metrikler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1965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8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274320" y="10972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CA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%0.00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16002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Oranı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1051560"/>
            <a:ext cx="1965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2423160" y="10972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23160" y="16002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İstek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1965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04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572000" y="10972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648ms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72000" y="16002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Latency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20840" y="1051560"/>
            <a:ext cx="1965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6720840" y="10972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23.9/s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720840" y="16002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RPS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21214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Terminal Çıktısı</a:t>
            </a:r>
            <a:endParaRPr lang="en-US" sz="11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2395728"/>
            <a:ext cx="4114800" cy="24231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572000" y="212140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Dashboard</a:t>
            </a:r>
            <a:endParaRPr lang="en-US" sz="11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0" y="2395728"/>
            <a:ext cx="4297680" cy="242316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904B"/>
          </a:solidFill>
          <a:ln w="12700">
            <a:solidFill>
              <a:srgbClr val="F5904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87"/>
          </a:solidFill>
          <a:ln w="12700">
            <a:solidFill>
              <a:srgbClr val="4CAF8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6858000" y="182880"/>
            <a:ext cx="2103120" cy="347472"/>
          </a:xfrm>
          <a:prstGeom prst="rect">
            <a:avLst/>
          </a:prstGeom>
          <a:solidFill>
            <a:srgbClr val="E6F5EE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6858000" y="1828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CA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 Selin Tütüncü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CA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Canlı Demo — Pytest &amp; Playwright E2E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766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unit test · %89.29 coverage · 5 E2E senaryo grubu · 10 test fonksiyonu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114800" cy="3840480"/>
          </a:xfrm>
          <a:prstGeom prst="rect">
            <a:avLst/>
          </a:prstGeom>
          <a:solidFill>
            <a:srgbClr val="E6F5EE"/>
          </a:solidFill>
          <a:ln w="12700">
            <a:solidFill>
              <a:srgbClr val="4CAF8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4114800" cy="365760"/>
          </a:xfrm>
          <a:prstGeom prst="rect">
            <a:avLst/>
          </a:prstGeom>
          <a:solidFill>
            <a:srgbClr val="4CAF87"/>
          </a:solidFill>
          <a:ln w="12700">
            <a:solidFill>
              <a:srgbClr val="4CAF8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&amp; Integration Testler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481328"/>
            <a:ext cx="164592" cy="164592"/>
          </a:xfrm>
          <a:prstGeom prst="ellipse">
            <a:avLst/>
          </a:prstGeom>
          <a:solidFill>
            <a:srgbClr val="4CAF87"/>
          </a:solidFill>
          <a:ln w="12700">
            <a:solidFill>
              <a:srgbClr val="4CAF8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658368" y="14447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test_qr_service.py → short code, PNG magic bytes, hata seviyeleri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1993392"/>
            <a:ext cx="164592" cy="164592"/>
          </a:xfrm>
          <a:prstGeom prst="ellipse">
            <a:avLst/>
          </a:prstGeom>
          <a:solidFill>
            <a:srgbClr val="4CAF87"/>
          </a:solidFill>
          <a:ln w="12700">
            <a:solidFill>
              <a:srgbClr val="4CAF8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658368" y="195681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test_s3_service.py → boto3 mock: bucket oluştur, upload, delete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505456"/>
            <a:ext cx="164592" cy="164592"/>
          </a:xfrm>
          <a:prstGeom prst="ellipse">
            <a:avLst/>
          </a:prstGeom>
          <a:solidFill>
            <a:srgbClr val="4CAF87"/>
          </a:solidFill>
          <a:ln w="12700">
            <a:solidFill>
              <a:srgbClr val="4CAF8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58368" y="2468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test_api.py → health, metrics, CRUD, redirect, analytics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017520"/>
            <a:ext cx="164592" cy="164592"/>
          </a:xfrm>
          <a:prstGeom prst="ellipse">
            <a:avLst/>
          </a:prstGeom>
          <a:solidFill>
            <a:srgbClr val="4CAF87"/>
          </a:solidFill>
          <a:ln w="12700">
            <a:solidFill>
              <a:srgbClr val="4CAF8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658368" y="298094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tests/integration/ → 6 senaryo, Testcontainers + PostgreSQL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529584"/>
            <a:ext cx="164592" cy="164592"/>
          </a:xfrm>
          <a:prstGeom prst="ellipse">
            <a:avLst/>
          </a:prstGeom>
          <a:solidFill>
            <a:srgbClr val="4CAF87"/>
          </a:solidFill>
          <a:ln w="12700">
            <a:solidFill>
              <a:srgbClr val="4CAF8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658368" y="349300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conftest.py → session-scoped &amp; function-scoped fixture stratejisi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4041648"/>
            <a:ext cx="164592" cy="164592"/>
          </a:xfrm>
          <a:prstGeom prst="ellipse">
            <a:avLst/>
          </a:prstGeom>
          <a:solidFill>
            <a:srgbClr val="4CAF87"/>
          </a:solidFill>
          <a:ln w="12700">
            <a:solidFill>
              <a:srgbClr val="4CAF8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658368" y="400507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Dış bağımlılıklar tamamen mocklanmış — hız + izolasyon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0" y="1005840"/>
            <a:ext cx="4297680" cy="3840480"/>
          </a:xfrm>
          <a:prstGeom prst="rect">
            <a:avLst/>
          </a:prstGeom>
          <a:solidFill>
            <a:srgbClr val="F8F7FD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4572000" y="1005840"/>
            <a:ext cx="4297680" cy="36576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466344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E2E Testler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1463040"/>
            <a:ext cx="4114800" cy="530352"/>
          </a:xfrm>
          <a:prstGeom prst="rect">
            <a:avLst/>
          </a:prstGeom>
          <a:solidFill>
            <a:srgbClr val="EDE8F7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4754880" y="15087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Oluşturma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54880" y="17373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girişi → PNG üretim doğrulaması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2103120"/>
            <a:ext cx="4114800" cy="530352"/>
          </a:xfrm>
          <a:prstGeom prst="rect">
            <a:avLst/>
          </a:prstGeom>
          <a:solidFill>
            <a:srgbClr val="EDE8F7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4754880" y="21488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Listesi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54880" y="23774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Sayfalama + arama filtresi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2743200"/>
            <a:ext cx="4114800" cy="530352"/>
          </a:xfrm>
          <a:prstGeom prst="rect">
            <a:avLst/>
          </a:prstGeom>
          <a:solidFill>
            <a:srgbClr val="EDE8F7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4754880" y="27889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Silme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54880" y="3017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akışı → S3 temizliği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3383280"/>
            <a:ext cx="4114800" cy="530352"/>
          </a:xfrm>
          <a:prstGeom prst="rect">
            <a:avLst/>
          </a:prstGeom>
          <a:solidFill>
            <a:srgbClr val="EDE8F7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4754880" y="34290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54880" y="36576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Tarama sayacı artışı doğrulaması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4023360"/>
            <a:ext cx="4114800" cy="530352"/>
          </a:xfrm>
          <a:prstGeom prst="rect">
            <a:avLst/>
          </a:prstGeom>
          <a:solidFill>
            <a:srgbClr val="EDE8F7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4754880" y="40690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754880" y="42976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tarama istatistikleri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904B"/>
          </a:solidFill>
          <a:ln w="12700">
            <a:solidFill>
              <a:srgbClr val="F5904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87"/>
          </a:solidFill>
          <a:ln w="12700">
            <a:solidFill>
              <a:srgbClr val="4CAF8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6858000" y="182880"/>
            <a:ext cx="2103120" cy="347472"/>
          </a:xfrm>
          <a:prstGeom prst="rect">
            <a:avLst/>
          </a:prstGeom>
          <a:solidFill>
            <a:srgbClr val="E6F5EE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6858000" y="1828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CA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 Selin Tütüncü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CA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Metrikleri &amp; Kazanımlar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011680" cy="1143000"/>
          </a:xfrm>
          <a:prstGeom prst="rect">
            <a:avLst/>
          </a:prstGeom>
          <a:solidFill>
            <a:srgbClr val="F8F7FD"/>
          </a:solidFill>
          <a:ln w="12700">
            <a:solidFill>
              <a:srgbClr val="D8D0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2011680" cy="91440"/>
          </a:xfrm>
          <a:prstGeom prst="rect">
            <a:avLst/>
          </a:prstGeom>
          <a:solidFill>
            <a:srgbClr val="4CAF87"/>
          </a:solidFill>
          <a:ln w="12700">
            <a:solidFill>
              <a:srgbClr val="4CAF8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274320" y="117043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CA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1755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1005840"/>
            <a:ext cx="2011680" cy="1143000"/>
          </a:xfrm>
          <a:prstGeom prst="rect">
            <a:avLst/>
          </a:prstGeom>
          <a:solidFill>
            <a:srgbClr val="F8F7FD"/>
          </a:solidFill>
          <a:ln w="12700">
            <a:solidFill>
              <a:srgbClr val="D8D0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2423160" y="1005840"/>
            <a:ext cx="2011680" cy="91440"/>
          </a:xfrm>
          <a:prstGeom prst="rect">
            <a:avLst/>
          </a:prstGeom>
          <a:solidFill>
            <a:srgbClr val="4CAF87"/>
          </a:solidFill>
          <a:ln w="12700">
            <a:solidFill>
              <a:srgbClr val="4CAF8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2423160" y="117043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CA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23160" y="1755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Senaryo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005840"/>
            <a:ext cx="2011680" cy="1143000"/>
          </a:xfrm>
          <a:prstGeom prst="rect">
            <a:avLst/>
          </a:prstGeom>
          <a:solidFill>
            <a:srgbClr val="F8F7FD"/>
          </a:solidFill>
          <a:ln w="12700">
            <a:solidFill>
              <a:srgbClr val="D8D0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4572000" y="1005840"/>
            <a:ext cx="2011680" cy="9144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4572000" y="117043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72000" y="1755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E2E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20840" y="1005840"/>
            <a:ext cx="2011680" cy="1143000"/>
          </a:xfrm>
          <a:prstGeom prst="rect">
            <a:avLst/>
          </a:prstGeom>
          <a:solidFill>
            <a:srgbClr val="F8F7FD"/>
          </a:solidFill>
          <a:ln w="12700">
            <a:solidFill>
              <a:srgbClr val="D8D0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6720840" y="1005840"/>
            <a:ext cx="2011680" cy="9144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6720840" y="117043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%89.29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720840" y="1755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331720"/>
            <a:ext cx="2011680" cy="1143000"/>
          </a:xfrm>
          <a:prstGeom prst="rect">
            <a:avLst/>
          </a:prstGeom>
          <a:solidFill>
            <a:srgbClr val="F8F7FD"/>
          </a:solidFill>
          <a:ln w="12700">
            <a:solidFill>
              <a:srgbClr val="D8D0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274320" y="2331720"/>
            <a:ext cx="2011680" cy="91440"/>
          </a:xfrm>
          <a:prstGeom prst="rect">
            <a:avLst/>
          </a:prstGeom>
          <a:solidFill>
            <a:srgbClr val="F5904B"/>
          </a:solidFill>
          <a:ln w="12700">
            <a:solidFill>
              <a:srgbClr val="F5904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274320" y="249631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3605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274320" y="30815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İsteği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23160" y="2331720"/>
            <a:ext cx="2011680" cy="1143000"/>
          </a:xfrm>
          <a:prstGeom prst="rect">
            <a:avLst/>
          </a:prstGeom>
          <a:solidFill>
            <a:srgbClr val="F8F7FD"/>
          </a:solidFill>
          <a:ln w="12700">
            <a:solidFill>
              <a:srgbClr val="D8D0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2423160" y="2331720"/>
            <a:ext cx="2011680" cy="91440"/>
          </a:xfrm>
          <a:prstGeom prst="rect">
            <a:avLst/>
          </a:prstGeom>
          <a:solidFill>
            <a:srgbClr val="F5904B"/>
          </a:solidFill>
          <a:ln w="12700">
            <a:solidFill>
              <a:srgbClr val="F5904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2423160" y="249631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2423160" y="30815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Aşaması ✓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2331720"/>
            <a:ext cx="2011680" cy="1143000"/>
          </a:xfrm>
          <a:prstGeom prst="rect">
            <a:avLst/>
          </a:prstGeom>
          <a:solidFill>
            <a:srgbClr val="F8F7FD"/>
          </a:solidFill>
          <a:ln w="12700">
            <a:solidFill>
              <a:srgbClr val="D8D0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4572000" y="2331720"/>
            <a:ext cx="2011680" cy="91440"/>
          </a:xfrm>
          <a:prstGeom prst="rect">
            <a:avLst/>
          </a:prstGeom>
          <a:solidFill>
            <a:srgbClr val="5A5A72"/>
          </a:solidFill>
          <a:ln w="12700">
            <a:solidFill>
              <a:srgbClr val="5A5A7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4572000" y="249631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572000" y="30815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Metriği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20840" y="2331720"/>
            <a:ext cx="2011680" cy="1143000"/>
          </a:xfrm>
          <a:prstGeom prst="rect">
            <a:avLst/>
          </a:prstGeom>
          <a:solidFill>
            <a:srgbClr val="F8F7FD"/>
          </a:solidFill>
          <a:ln w="12700">
            <a:solidFill>
              <a:srgbClr val="D8D0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6720840" y="2331720"/>
            <a:ext cx="2011680" cy="91440"/>
          </a:xfrm>
          <a:prstGeom prst="rect">
            <a:avLst/>
          </a:prstGeom>
          <a:solidFill>
            <a:srgbClr val="5A5A72"/>
          </a:solidFill>
          <a:ln w="12700">
            <a:solidFill>
              <a:srgbClr val="5A5A7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6720840" y="249631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6720840" y="30815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Newman İsteği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3657600"/>
            <a:ext cx="8595360" cy="1188720"/>
          </a:xfrm>
          <a:prstGeom prst="rect">
            <a:avLst/>
          </a:prstGeom>
          <a:solidFill>
            <a:srgbClr val="E6F5EE"/>
          </a:solidFill>
          <a:ln w="12700">
            <a:solidFill>
              <a:srgbClr val="4CAF8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457200" y="3730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A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Öğrenilenler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400507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UUID TypeDecorator · S3 mock ile Testcontainers'ı aynı projede yönetmek · k6 handleSummary ile ölçüm kanıtı · CI pipeline'da smoke + newman entegrasyonu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904B"/>
          </a:solidFill>
          <a:ln w="12700">
            <a:solidFill>
              <a:srgbClr val="F5904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904B"/>
          </a:solidFill>
          <a:ln w="12700">
            <a:solidFill>
              <a:srgbClr val="F5904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365760" y="108585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Teşekkürler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2240280"/>
            <a:ext cx="4572000" cy="54864"/>
          </a:xfrm>
          <a:prstGeom prst="rect">
            <a:avLst/>
          </a:prstGeom>
          <a:solidFill>
            <a:srgbClr val="D8D0F0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1188720" y="2487168"/>
            <a:ext cx="1280160" cy="1280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5904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1188720" y="2487168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tr-TR" sz="2400" b="1" dirty="0">
                <a:solidFill>
                  <a:srgbClr val="F59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Nuran Ferhan Kasap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· Kubernetes · Docker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23360" y="2487168"/>
            <a:ext cx="1280160" cy="1280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CAF8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4023360" y="2487168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2400" b="1" dirty="0">
                <a:solidFill>
                  <a:srgbClr val="4CA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29184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Selin Tütüncü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4114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· Playwright · E2E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0" y="2487168"/>
            <a:ext cx="1280160" cy="1280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6858000" y="2487168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2400" b="1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SNG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12648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 Naz Görmez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4114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· Prometheus · Grafana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475488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Üniversitesi · Teknoloji Fakültesi · Bulut Mimarilerinde Test Mühendisliği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854</Words>
  <Application>Microsoft Office PowerPoint</Application>
  <PresentationFormat>Ekran Gösterisi (16:9)</PresentationFormat>
  <Paragraphs>221</Paragraphs>
  <Slides>12</Slides>
  <Notes>12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QR Vault - Final Sunum</dc:title>
  <dc:subject>PptxGenJS Presentation</dc:subject>
  <dc:creator>PptxGenJS</dc:creator>
  <cp:lastModifiedBy>Betül Ravza KASAP</cp:lastModifiedBy>
  <cp:revision>4</cp:revision>
  <dcterms:created xsi:type="dcterms:W3CDTF">2026-06-02T19:37:08Z</dcterms:created>
  <dcterms:modified xsi:type="dcterms:W3CDTF">2026-06-02T19:52:37Z</dcterms:modified>
</cp:coreProperties>
</file>